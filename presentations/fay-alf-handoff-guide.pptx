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c302252167453b" /><Relationship Type="http://schemas.openxmlformats.org/officeDocument/2006/relationships/extended-properties" Target="/docProps/app.xml" Id="R0831d3557bb04ecc" /><Relationship Type="http://schemas.openxmlformats.org/officeDocument/2006/relationships/officeDocument" Target="/ppt/presentation.xml" Id="R33f7ee64e2c344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06502ff50f4d68"/>
  </p:sldMasterIdLst>
  <p:notesMasterIdLst>
    <p:notesMasterId xmlns:r="http://schemas.openxmlformats.org/officeDocument/2006/relationships" r:id="R6b54155396bf4d4c"/>
  </p:notesMasterIdLst>
  <p:sldIdLst>
    <p:sldId xmlns:r="http://schemas.openxmlformats.org/officeDocument/2006/relationships" id="256" r:id="Rb600623fc8dc40e1"/>
    <p:sldId xmlns:r="http://schemas.openxmlformats.org/officeDocument/2006/relationships" id="257" r:id="R7a36f2a9f6494e1b"/>
    <p:sldId xmlns:r="http://schemas.openxmlformats.org/officeDocument/2006/relationships" id="258" r:id="R5f9a48e4e30b4e4e"/>
    <p:sldId xmlns:r="http://schemas.openxmlformats.org/officeDocument/2006/relationships" id="259" r:id="R1ad56eaf86914c8d"/>
    <p:sldId xmlns:r="http://schemas.openxmlformats.org/officeDocument/2006/relationships" id="260" r:id="Rad5d99600efa4bee"/>
    <p:sldId xmlns:r="http://schemas.openxmlformats.org/officeDocument/2006/relationships" id="261" r:id="R8f24744fa30644db"/>
    <p:sldId xmlns:r="http://schemas.openxmlformats.org/officeDocument/2006/relationships" id="262" r:id="R1ba849e73d76430a"/>
    <p:sldId xmlns:r="http://schemas.openxmlformats.org/officeDocument/2006/relationships" id="263" r:id="R4ccbf1c6cdb04289"/>
    <p:sldId xmlns:r="http://schemas.openxmlformats.org/officeDocument/2006/relationships" id="264" r:id="R5504e9a73b8445df"/>
    <p:sldId xmlns:r="http://schemas.openxmlformats.org/officeDocument/2006/relationships" id="265" r:id="Rd0f711ded0de478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06502ff50f4d68" /><Relationship Type="http://schemas.openxmlformats.org/officeDocument/2006/relationships/theme" Target="/ppt/theme/theme1.xml" Id="R7be68980b5584876" /><Relationship Type="http://schemas.openxmlformats.org/officeDocument/2006/relationships/notesMaster" Target="/ppt/notesMasters/notesMaster1.xml" Id="R6b54155396bf4d4c" /><Relationship Type="http://schemas.openxmlformats.org/officeDocument/2006/relationships/presProps" Target="/ppt/presProps.xml" Id="Rb9aec4f35dd44ae8" /><Relationship Type="http://schemas.openxmlformats.org/officeDocument/2006/relationships/viewProps" Target="/ppt/viewProps.xml" Id="R4ef9ac2bb784436e" /><Relationship Type="http://schemas.openxmlformats.org/officeDocument/2006/relationships/tableStyles" Target="/ppt/tableStyles.xml" Id="R8cad08b236174f81" /><Relationship Type="http://schemas.openxmlformats.org/officeDocument/2006/relationships/slide" Target="/ppt/slides/slide1.xml" Id="Rb600623fc8dc40e1" /><Relationship Type="http://schemas.openxmlformats.org/officeDocument/2006/relationships/slide" Target="/ppt/slides/slide2.xml" Id="R7a36f2a9f6494e1b" /><Relationship Type="http://schemas.openxmlformats.org/officeDocument/2006/relationships/slide" Target="/ppt/slides/slide3.xml" Id="R5f9a48e4e30b4e4e" /><Relationship Type="http://schemas.openxmlformats.org/officeDocument/2006/relationships/slide" Target="/ppt/slides/slide4.xml" Id="R1ad56eaf86914c8d" /><Relationship Type="http://schemas.openxmlformats.org/officeDocument/2006/relationships/slide" Target="/ppt/slides/slide5.xml" Id="Rad5d99600efa4bee" /><Relationship Type="http://schemas.openxmlformats.org/officeDocument/2006/relationships/slide" Target="/ppt/slides/slide6.xml" Id="R8f24744fa30644db" /><Relationship Type="http://schemas.openxmlformats.org/officeDocument/2006/relationships/slide" Target="/ppt/slides/slide7.xml" Id="R1ba849e73d76430a" /><Relationship Type="http://schemas.openxmlformats.org/officeDocument/2006/relationships/slide" Target="/ppt/slides/slide8.xml" Id="R4ccbf1c6cdb04289" /><Relationship Type="http://schemas.openxmlformats.org/officeDocument/2006/relationships/slide" Target="/ppt/slides/slide9.xml" Id="R5504e9a73b8445df" /><Relationship Type="http://schemas.openxmlformats.org/officeDocument/2006/relationships/slide" Target="/ppt/slides/slide10.xml" Id="Rd0f711ded0de47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e7947faa46f42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b2e610aa734810" /><Relationship Type="http://schemas.openxmlformats.org/officeDocument/2006/relationships/notesMaster" Target="/ppt/notesMasters/notesMaster1.xml" Id="R0cfaf407908c4d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6737423f71434d" /><Relationship Type="http://schemas.openxmlformats.org/officeDocument/2006/relationships/notesMaster" Target="/ppt/notesMasters/notesMaster1.xml" Id="Rd861e6ab4a494b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a48aa4ba6f4fb8" /><Relationship Type="http://schemas.openxmlformats.org/officeDocument/2006/relationships/notesMaster" Target="/ppt/notesMasters/notesMaster1.xml" Id="R862ae3644b5d46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e6c76596d8455c" /><Relationship Type="http://schemas.openxmlformats.org/officeDocument/2006/relationships/notesMaster" Target="/ppt/notesMasters/notesMaster1.xml" Id="Rbe628eb8c54f46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5e651cb7c14849" /><Relationship Type="http://schemas.openxmlformats.org/officeDocument/2006/relationships/notesMaster" Target="/ppt/notesMasters/notesMaster1.xml" Id="Re595b866a67d44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ba542e521e4aa0" /><Relationship Type="http://schemas.openxmlformats.org/officeDocument/2006/relationships/notesMaster" Target="/ppt/notesMasters/notesMaster1.xml" Id="Rde902fa07a5e4c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13f5bf2fad49bc" /><Relationship Type="http://schemas.openxmlformats.org/officeDocument/2006/relationships/notesMaster" Target="/ppt/notesMasters/notesMaster1.xml" Id="Rf3a52d00555740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397c0fc2d740a8" /><Relationship Type="http://schemas.openxmlformats.org/officeDocument/2006/relationships/notesMaster" Target="/ppt/notesMasters/notesMaster1.xml" Id="R3ee641ef5d4546a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ec934fc4b5d4269" /><Relationship Type="http://schemas.openxmlformats.org/officeDocument/2006/relationships/notesMaster" Target="/ppt/notesMasters/notesMaster1.xml" Id="R250bf06560964b2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633b30845344c2d" /><Relationship Type="http://schemas.openxmlformats.org/officeDocument/2006/relationships/notesMaster" Target="/ppt/notesMasters/notesMaster1.xml" Id="Rccffb1c8914b4a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8e80f47b754e4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f9c0d71d938496f" /><Relationship Type="http://schemas.openxmlformats.org/officeDocument/2006/relationships/slideLayout" Target="/ppt/slideLayouts/slideLayout2.xml" Id="Rea7c7564072647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7c7564072647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fa6aa37d7b4e2a" /><Relationship Type="http://schemas.openxmlformats.org/officeDocument/2006/relationships/notesSlide" Target="/ppt/notesSlides/notesSlide1.xml" Id="R171ca52035f243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c6c6e331594131" /><Relationship Type="http://schemas.openxmlformats.org/officeDocument/2006/relationships/notesSlide" Target="/ppt/notesSlides/notesSlide2.xml" Id="Rcd88504562df45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0cf08ea8e949fe" /><Relationship Type="http://schemas.openxmlformats.org/officeDocument/2006/relationships/notesSlide" Target="/ppt/notesSlides/notesSlide3.xml" Id="R34ad30d2719943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c4f8e8c51943a1" /><Relationship Type="http://schemas.openxmlformats.org/officeDocument/2006/relationships/notesSlide" Target="/ppt/notesSlides/notesSlide4.xml" Id="R4068bf4da73846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41a8779f9e4aa3" /><Relationship Type="http://schemas.openxmlformats.org/officeDocument/2006/relationships/notesSlide" Target="/ppt/notesSlides/notesSlide5.xml" Id="R962bc172516641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6f1ed531dd428b" /><Relationship Type="http://schemas.openxmlformats.org/officeDocument/2006/relationships/notesSlide" Target="/ppt/notesSlides/notesSlide6.xml" Id="Rc1977e24f03048d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b5f20f28d8407b" /><Relationship Type="http://schemas.openxmlformats.org/officeDocument/2006/relationships/notesSlide" Target="/ppt/notesSlides/notesSlide7.xml" Id="R73473d66bfd24c8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b67a6b901947ac" /><Relationship Type="http://schemas.openxmlformats.org/officeDocument/2006/relationships/notesSlide" Target="/ppt/notesSlides/notesSlide8.xml" Id="R5ff32300e6964e3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51487ea0344aed" /><Relationship Type="http://schemas.openxmlformats.org/officeDocument/2006/relationships/notesSlide" Target="/ppt/notesSlides/notesSlide9.xml" Id="Ra036ee7fbbed44e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89de9e07a74b23" /><Relationship Type="http://schemas.openxmlformats.org/officeDocument/2006/relationships/notesSlide" Target="/ppt/notesSlides/notesSlide10.xml" Id="R096ae1efc5084cd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E3F439-E78B-4C70-90FF-B82151BC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4565AA-73E3-46F8-AC9B-BFE718AC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FCBBC1-A305-4307-80E2-5A782FB9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5905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102A43"/>
                </a:solidFill>
                <a:latin typeface="Hiragino Sans"/>
                <a:ea typeface="Hiragino Sans"/>
                <a:cs typeface="Hiragino Sans"/>
              </a:rPr>
              <a:t>Fay / Alf</a:t>
            </a:r>
          </a:p>
          <a:p xmlns:a="http://schemas.openxmlformats.org/drawingml/2006/main">
            <a:pPr algn="l">
              <a:defRPr sz="3000" b="1">
                <a:solidFill>
                  <a:srgbClr val="102A43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102A43"/>
                </a:solidFill>
                <a:latin typeface="Hiragino Sans"/>
                <a:ea typeface="Hiragino Sans"/>
                <a:cs typeface="Hiragino Sans"/>
              </a:rPr>
              <a:t>引き継ぎ運用ガイド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8F4388-6ED3-4B30-B613-9788E7AF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609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rPr>
              <a:t>スマホ・ノートPC・デスクトップPC・Codex・Claudeをまたいでも、作業内容を迷子にしないための約束事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AB9C06-BB2D-42C2-B32C-D4063410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009650"/>
            <a:ext cx="3143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E4D3D2-D70F-433A-B886-2C8EF07B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240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75E58A-8A86-46F9-A122-E59FB75F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764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Fay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DD096A-86A8-4310-960F-37F3FFF7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051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84E7C0-9570-4CB0-85CF-A04236CC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575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GitHub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FC878B-82C9-4738-BCF7-0B496BE4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862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F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E7CF08-370D-4FB0-9FD7-AD006CE0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386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Alf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E73CA7-EE2E-46DC-82C1-1BD81FFA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133600"/>
            <a:ext cx="152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34B2A1-9A84-4980-A1C3-710A5F47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314700"/>
            <a:ext cx="152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E865F2-4B70-458A-81DE-AD79F387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0"/>
            <a:ext cx="771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7285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0B7285"/>
                </a:solidFill>
                <a:latin typeface="Hiragino Sans"/>
                <a:ea typeface="Hiragino Sans"/>
                <a:cs typeface="Hiragino Sans"/>
              </a:rPr>
              <a:t>最小操作: Fay、START_HERE.mdから再開して。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B44C62-143A-4877-B8E0-11AE398E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8637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52606D"/>
                </a:solidFill>
                <a:latin typeface="Hiragino Sans"/>
                <a:ea typeface="Hiragino Sans"/>
                <a:cs typeface="Hiragino Sans"/>
              </a:rPr>
              <a:t>作成日: 2026-05-24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09F41A-D4A0-4179-8E53-F45D6E2E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B8794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0">
                <a:solidFill>
                  <a:srgbClr val="7B8794"/>
                </a:solidFill>
                <a:latin typeface="Hiragino Sans"/>
                <a:ea typeface="Hiragino Sans"/>
                <a:cs typeface="Hiragino Sans"/>
              </a:rPr>
              <a:t>Fay / Alf 引き継ぎ運用ガイド  |  01</a:t>
            </a:r>
          </a:p>
        </p:txBody>
      </p:sp>
    </p:spTree>
    <p:extLst>
      <p:ext uri="{BB962C8B-B14F-4D97-AF65-F5344CB8AC3E}">
        <p14:creationId xmlns:p14="http://schemas.microsoft.com/office/powerpoint/2010/main" val="102504117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A0EC39-D4CD-4ADC-BC56-6066A2836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753D38-1915-4BB1-A0D8-6115CF5A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2B28DF-1960-430D-932F-1690F454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7285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0B7285"/>
                </a:solidFill>
                <a:latin typeface="Hiragino Sans"/>
                <a:ea typeface="Hiragino Sans"/>
                <a:cs typeface="Hiragino Sans"/>
              </a:rPr>
              <a:t>1. 目的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7DC740-F6C6-4348-AF61-CF9C0AF3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742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A43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02A43"/>
                </a:solidFill>
                <a:latin typeface="Hiragino Sans"/>
                <a:ea typeface="Hiragino Sans"/>
                <a:cs typeface="Hiragino Sans"/>
              </a:rPr>
              <a:t>この運用で解決すること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5EC654-1A2D-44C8-897D-5709D17E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781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52606D"/>
                </a:solidFill>
                <a:latin typeface="Hiragino Sans"/>
                <a:ea typeface="Hiragino Sans"/>
                <a:cs typeface="Hiragino Sans"/>
              </a:rPr>
              <a:t>チャット上限・端末移動・AIの役割分担で、作業内容が消える/迷うリスクを下げる。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7045C6-434C-4597-ABAA-D163FAF6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048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1849C7-4DCB-4599-961C-53B59364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92909F-E830-4198-9D32-90675E2A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7285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0B7285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927FFC-F55B-492F-B042-73740BE7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86000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02A43"/>
                </a:solidFill>
                <a:latin typeface="Hiragino Sans"/>
                <a:ea typeface="Hiragino Sans"/>
                <a:cs typeface="Hiragino Sans"/>
              </a:rPr>
              <a:t>迷子を防ぐ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992247-D1F8-40E0-AD8B-D3814F0A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25527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rPr>
              <a:t>チャット本文ではなく、GitHub上の台帳と引き継ぎファイルを正本にする。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EEFB32-E1C2-4A5D-8DC5-E7155E9A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95500"/>
            <a:ext cx="3048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E0DFE5-1C3E-435D-9D1A-9D2FEC9F0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9550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F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75AE3B-985E-49BF-B775-3D7D4E3F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860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59F00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59F00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72B2FB-1531-490B-8AAB-F54ED94A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86000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02A43"/>
                </a:solidFill>
                <a:latin typeface="Hiragino Sans"/>
                <a:ea typeface="Hiragino Sans"/>
                <a:cs typeface="Hiragino Sans"/>
              </a:rPr>
              <a:t>手間を減らす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62E3F1-D063-4088-9DE4-5A4002E8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86050"/>
            <a:ext cx="25527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rPr>
              <a:t>新チャットでは一言だけ。長い設定や前提を毎回貼り直さない。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FBEACA-2E99-44E1-8F82-E0739E3C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3048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E783BB-CC3D-460A-A74C-BBFEDD22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C5918B-E00F-4EBC-B55A-E1EC0331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860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85D75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E85D75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DA3FF4-4500-449E-9330-0FAB3EFA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86000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02A43"/>
                </a:solidFill>
                <a:latin typeface="Hiragino Sans"/>
                <a:ea typeface="Hiragino Sans"/>
                <a:cs typeface="Hiragino Sans"/>
              </a:rPr>
              <a:t>復旧できる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527E75-75FF-47FC-9CDC-3002CD1B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86050"/>
            <a:ext cx="25527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rPr>
              <a:t>FayかAlfの片方が詰まっても、もう片方が再開プロンプトを作る。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6293D0-D2BE-4663-ACF8-5A0ABE3D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619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02A43"/>
                </a:solidFill>
                <a:latin typeface="Hiragino Sans"/>
                <a:ea typeface="Hiragino Sans"/>
                <a:cs typeface="Hiragino Sans"/>
              </a:rPr>
              <a:t>正本: GitHub repo `mikami-operations`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5ABAC7-1950-4806-B8C3-7B9F374B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B8794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0">
                <a:solidFill>
                  <a:srgbClr val="7B8794"/>
                </a:solidFill>
                <a:latin typeface="Hiragino Sans"/>
                <a:ea typeface="Hiragino Sans"/>
                <a:cs typeface="Hiragino Sans"/>
              </a:rPr>
              <a:t>Fay / Alf 引き継ぎ運用ガイド  |  02</a:t>
            </a:r>
          </a:p>
        </p:txBody>
      </p:sp>
    </p:spTree>
    <p:extLst>
      <p:ext uri="{BB962C8B-B14F-4D97-AF65-F5344CB8AC3E}">
        <p14:creationId xmlns:p14="http://schemas.microsoft.com/office/powerpoint/2010/main" val="153982214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608ED2-B338-46EC-80A2-27C283AC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B5981D-3FC4-452F-8BC7-BC90F3B5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AA4EAA-8780-4CF8-84B6-2E4BE106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7285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0B7285"/>
                </a:solidFill>
                <a:latin typeface="Hiragino Sans"/>
                <a:ea typeface="Hiragino Sans"/>
                <a:cs typeface="Hiragino Sans"/>
              </a:rPr>
              <a:t>2. 全体像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3A5C46-1FBA-4335-9D90-240497A7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742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A43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02A43"/>
                </a:solidFill>
                <a:latin typeface="Hiragino Sans"/>
                <a:ea typeface="Hiragino Sans"/>
                <a:cs typeface="Hiragino Sans"/>
              </a:rPr>
              <a:t>Fayが司令塔、Alfが実作業、GitHubが正本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2C4283-AA71-46B7-90D5-D1A49CEA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781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52606D"/>
                </a:solidFill>
                <a:latin typeface="Hiragino Sans"/>
                <a:ea typeface="Hiragino Sans"/>
                <a:cs typeface="Hiragino Sans"/>
              </a:rPr>
              <a:t>スマホは指示、Fayは整理、Alfは重い作業、GitHubは引き継ぎ台帳。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D9D2EB-2443-4119-9D6C-5078EAB5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1524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C6CBF4-3D9D-4482-8BD9-818C6D20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152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DC3C03-26EB-47D5-9126-652207CD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F80ED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2F80ED"/>
                </a:solidFill>
                <a:latin typeface="Hiragino Sans"/>
                <a:ea typeface="Hiragino Sans"/>
                <a:cs typeface="Hiragino Sans"/>
              </a:rPr>
              <a:t>スマホ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AA1F9F-D657-4E3D-B3F2-29F56E9A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81375"/>
            <a:ext cx="1257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rPr>
              <a:t>指示を出す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F3B599-3B49-4172-9D5E-D4927AD1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14625"/>
            <a:ext cx="1524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C9094E-F3C2-4C33-88B1-3413DA5B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14625"/>
            <a:ext cx="152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B68BCE-EAF6-4AF4-99EA-F634604B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0037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7285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0B7285"/>
                </a:solidFill>
                <a:latin typeface="Hiragino Sans"/>
                <a:ea typeface="Hiragino Sans"/>
                <a:cs typeface="Hiragino Sans"/>
              </a:rPr>
              <a:t>Fay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24F76D-22C0-4F86-859C-33923940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381375"/>
            <a:ext cx="1257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rPr>
              <a:t>司令塔・整理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847B66-26B0-406B-ADFE-94728C44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14625"/>
            <a:ext cx="1524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2B48F8-05E5-49AF-AD4F-AA764006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14625"/>
            <a:ext cx="152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8A9D35-5D93-472C-BE75-090B6A14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0037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A43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02A43"/>
                </a:solidFill>
                <a:latin typeface="Hiragino Sans"/>
                <a:ea typeface="Hiragino Sans"/>
                <a:cs typeface="Hiragino Sans"/>
              </a:rPr>
              <a:t>GitHub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D7B57F-1FA6-4ED7-9BF9-5FBB9791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381375"/>
            <a:ext cx="1257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rPr>
              <a:t>正本・台帳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F47AD7-EFFE-4AA4-A235-94311FD1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14625"/>
            <a:ext cx="1524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1E132A-F05C-4D68-82D0-C0B15A26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14625"/>
            <a:ext cx="152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F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FE1668-76E8-4B17-B993-B3806A49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0037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9F00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F59F00"/>
                </a:solidFill>
                <a:latin typeface="Hiragino Sans"/>
                <a:ea typeface="Hiragino Sans"/>
                <a:cs typeface="Hiragino Sans"/>
              </a:rPr>
              <a:t>Alf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EDB521-9105-4DB1-8743-373148ED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381375"/>
            <a:ext cx="1257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rPr>
              <a:t>実作業・push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0CC999-9883-4232-B92C-ADE6C8EB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14625"/>
            <a:ext cx="1524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D5B3EB-C264-41DC-A84D-17FA4D24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14625"/>
            <a:ext cx="152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25798F-E4C4-4388-93B9-4C418B7A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0037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7285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0B7285"/>
                </a:solidFill>
                <a:latin typeface="Hiragino Sans"/>
                <a:ea typeface="Hiragino Sans"/>
                <a:cs typeface="Hiragino Sans"/>
              </a:rPr>
              <a:t>Fay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10E605-21AA-4B01-ABA0-DDD796B9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381375"/>
            <a:ext cx="1257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rPr>
              <a:t>確認・次アクション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388282-4726-407B-924C-11EE64A0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267075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BD444B-335C-4437-8899-B855EEF1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20040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260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D041AA-633A-4D66-AC0B-951780FA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67075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28E97B-7E4A-4DD4-96CC-33EF4394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0040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260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18B94D-0357-4E62-A368-D011DCAE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67075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7CBCF0-96C3-481C-89FD-A5F15B04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20040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260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44D49A-C569-462A-A020-0F0370685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67075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440A5C-9D91-412C-A822-454F95B6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20040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260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A60B7B-81AA-4DED-AAA9-3BE45702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904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6F4"/>
          </a:solidFill>
          <a:ln xmlns:a="http://schemas.openxmlformats.org/drawingml/2006/main" w="0">
            <a:solidFill>
              <a:srgbClr val="DFF6F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616242-936B-47B2-AA4B-05FF97A0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29175"/>
            <a:ext cx="885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102A43"/>
                </a:solidFill>
                <a:latin typeface="Hiragino Sans"/>
                <a:ea typeface="Hiragino Sans"/>
                <a:cs typeface="Hiragino Sans"/>
              </a:rPr>
              <a:t>同じ端末で続けるだけなら毎回GitHub同期は不要。端末をまたぐ時だけ同期を確認する。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B0CBFA-6C7C-4AF1-8307-E5FA0BE6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B8794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0">
                <a:solidFill>
                  <a:srgbClr val="7B8794"/>
                </a:solidFill>
                <a:latin typeface="Hiragino Sans"/>
                <a:ea typeface="Hiragino Sans"/>
                <a:cs typeface="Hiragino Sans"/>
              </a:rPr>
              <a:t>Fay / Alf 引き継ぎ運用ガイド  |  03</a:t>
            </a:r>
          </a:p>
        </p:txBody>
      </p:sp>
    </p:spTree>
    <p:extLst>
      <p:ext uri="{BB962C8B-B14F-4D97-AF65-F5344CB8AC3E}">
        <p14:creationId xmlns:p14="http://schemas.microsoft.com/office/powerpoint/2010/main" val="83794193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0428F4-E872-48DB-8FEB-F744559C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536A42-7675-4FAA-B502-56DAB72A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08D1A2-D4D4-4BB5-9542-2B0E453A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7285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0B7285"/>
                </a:solidFill>
                <a:latin typeface="Hiragino Sans"/>
                <a:ea typeface="Hiragino Sans"/>
                <a:cs typeface="Hiragino Sans"/>
              </a:rPr>
              <a:t>3. 役割分担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F14D8C-77D9-4786-BF46-F67562AC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742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A43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02A43"/>
                </a:solidFill>
                <a:latin typeface="Hiragino Sans"/>
                <a:ea typeface="Hiragino Sans"/>
                <a:cs typeface="Hiragino Sans"/>
              </a:rPr>
              <a:t>FayとAlfの約束事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63B028-D29E-42E8-8362-44EF889A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781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52606D"/>
                </a:solidFill>
                <a:latin typeface="Hiragino Sans"/>
                <a:ea typeface="Hiragino Sans"/>
                <a:cs typeface="Hiragino Sans"/>
              </a:rPr>
              <a:t>三神さんは基本Fayへ依頼。Fayが必要ならAlf向けに分解する。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C8429A-6C43-4F4F-85BE-0BC31228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57557C-A990-4AD3-B6CC-7CEED477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8F5DF7-61C1-4F8D-A6A5-C4BBAC7C7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43125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7285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0B7285"/>
                </a:solidFill>
                <a:latin typeface="Hiragino Sans"/>
                <a:ea typeface="Hiragino Sans"/>
                <a:cs typeface="Hiragino Sans"/>
              </a:rPr>
              <a:t>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2008C5-7911-4D07-B39F-637391C39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43125"/>
            <a:ext cx="382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02A43"/>
                </a:solidFill>
                <a:latin typeface="Hiragino Sans"/>
                <a:ea typeface="Hiragino Sans"/>
                <a:cs typeface="Hiragino Sans"/>
              </a:rPr>
              <a:t>Fay / フェイ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251355-33A0-49A7-A495-12116B7D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43175"/>
            <a:ext cx="4267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rPr>
              <a:t>・ノートPC側、秘書、司令塔</a:t>
            </a:r>
          </a:p>
          <a:p xmlns:a="http://schemas.openxmlformats.org/drawingml/2006/main">
            <a:pPr algn="l">
              <a:def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rPr>
              <a:t>・相談の入口</a:t>
            </a:r>
          </a:p>
          <a:p xmlns:a="http://schemas.openxmlformats.org/drawingml/2006/main">
            <a:pPr algn="l">
              <a:def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rPr>
              <a:t>・優先順位、依頼文、台帳管理</a:t>
            </a:r>
          </a:p>
          <a:p xmlns:a="http://schemas.openxmlformats.org/drawingml/2006/main">
            <a:pPr algn="l">
              <a:def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rPr>
              <a:t>・引き継ぎメモ、意思決定ログを更新</a:t>
            </a:r>
          </a:p>
          <a:p xmlns:a="http://schemas.openxmlformats.org/drawingml/2006/main">
            <a:pPr algn="l">
              <a:def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rPr>
              <a:t>・Alfへ渡す仕事を整理する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1CB0FD-50AA-43A9-AB2E-A4C8B48D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3B76C2-F999-4BD8-9594-FE72E23B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F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AB042A-F637-43F3-B5E5-1B2B3E07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43125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59F00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59F00"/>
                </a:solidFill>
                <a:latin typeface="Hiragino Sans"/>
                <a:ea typeface="Hiragino Sans"/>
                <a:cs typeface="Hiragino Sans"/>
              </a:rPr>
              <a:t>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C2A004-BDF8-4B48-8E79-A9A196F1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43125"/>
            <a:ext cx="382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02A43"/>
                </a:solidFill>
                <a:latin typeface="Hiragino Sans"/>
                <a:ea typeface="Hiragino Sans"/>
                <a:cs typeface="Hiragino Sans"/>
              </a:rPr>
              <a:t>Alf / アルフ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CBCAB6-C406-4A6F-B373-D9EB92A5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43175"/>
            <a:ext cx="4267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rPr>
              <a:t>・デスクトップPC側、実作業サーバー</a:t>
            </a:r>
          </a:p>
          <a:p xmlns:a="http://schemas.openxmlformats.org/drawingml/2006/main">
            <a:pPr algn="l">
              <a:def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rPr>
              <a:t>・重いファイル作業、調査、コード整理</a:t>
            </a:r>
          </a:p>
          <a:p xmlns:a="http://schemas.openxmlformats.org/drawingml/2006/main">
            <a:pPr algn="l">
              <a:def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rPr>
              <a:t>・作業後にhandoff更新</a:t>
            </a:r>
          </a:p>
          <a:p xmlns:a="http://schemas.openxmlformats.org/drawingml/2006/main">
            <a:pPr algn="l">
              <a:def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rPr>
              <a:t>・git status、commit、pushまで担当</a:t>
            </a:r>
          </a:p>
          <a:p xmlns:a="http://schemas.openxmlformats.org/drawingml/2006/main">
            <a:pPr algn="l">
              <a:def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rPr>
              <a:t>・Fayが詰まった時の復旧支援も可能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4BAC05-EB43-47BC-8F5E-39E60584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02A43"/>
                </a:solidFill>
                <a:latin typeface="Hiragino Sans"/>
                <a:ea typeface="Hiragino Sans"/>
                <a:cs typeface="Hiragino Sans"/>
              </a:rPr>
              <a:t>合言葉: 「これはアルフで進めて」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C6916A-AAEB-4BCF-BDED-358B1375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B8794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0">
                <a:solidFill>
                  <a:srgbClr val="7B8794"/>
                </a:solidFill>
                <a:latin typeface="Hiragino Sans"/>
                <a:ea typeface="Hiragino Sans"/>
                <a:cs typeface="Hiragino Sans"/>
              </a:rPr>
              <a:t>Fay / Alf 引き継ぎ運用ガイド  |  04</a:t>
            </a:r>
          </a:p>
        </p:txBody>
      </p:sp>
    </p:spTree>
    <p:extLst>
      <p:ext uri="{BB962C8B-B14F-4D97-AF65-F5344CB8AC3E}">
        <p14:creationId xmlns:p14="http://schemas.microsoft.com/office/powerpoint/2010/main" val="199583007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0B4C1D-4316-433F-B4D0-F53A0306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AC71A8-002A-485D-8B7D-D0942811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C274FE-DA5B-43A0-B457-B60542A9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7285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0B7285"/>
                </a:solidFill>
                <a:latin typeface="Hiragino Sans"/>
                <a:ea typeface="Hiragino Sans"/>
                <a:cs typeface="Hiragino Sans"/>
              </a:rPr>
              <a:t>4. 新チャットへの移行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5884B2-2890-4F81-852A-8F75964F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742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A43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02A43"/>
                </a:solidFill>
                <a:latin typeface="Hiragino Sans"/>
                <a:ea typeface="Hiragino Sans"/>
                <a:cs typeface="Hiragino Sans"/>
              </a:rPr>
              <a:t>三神さんがやることは一言だけ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4DF9B0-AADC-4C81-AC89-6EC9E3E0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781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52606D"/>
                </a:solidFill>
                <a:latin typeface="Hiragino Sans"/>
                <a:ea typeface="Hiragino Sans"/>
                <a:cs typeface="Hiragino Sans"/>
              </a:rPr>
              <a:t>長い設定を貼り直さず、START_HERE.mdを入口にして再開する。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9BC799-CCB0-4F48-9C50-D3E8D87B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90750"/>
            <a:ext cx="942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725025-7D8B-400B-9EC1-D5475C4F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05075"/>
            <a:ext cx="8953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Fay、START_HERE.mdから再開して。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F6EDCB-FC07-4E8B-A20F-20A2D4D5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24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63F915-DD80-4008-89CC-F2CC156A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857625"/>
            <a:ext cx="809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rPr>
              <a:t>FayがSTART_HERE.mdを読み、必要なファイルを順番に確認する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D1E9FC-5D10-4C15-A3CF-4F1BBA95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86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98102E-A6FD-4F90-8C8E-1581DA85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219575"/>
            <a:ext cx="809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rPr>
              <a:t>handoff.mdで現在地、delegated-tasks.mdで分割作業を復元する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50C21B-7182-4B93-ACDB-28698910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48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45C75C-5906-4A45-87E0-1147683D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81525"/>
            <a:ext cx="809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rPr>
              <a:t>毎回GitHub同期は不要。同じ端末ならローカル正本から再開する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ECA2E3-CE9F-49DA-B15E-348251F6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10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B2208F-D2AD-44E6-B163-3711441A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43475"/>
            <a:ext cx="809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rPr>
              <a:t>端末をまたぐ時だけFetch/Pull/Pushを確認する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C25AC5-D835-4055-B8E9-05127CC5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B8794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0">
                <a:solidFill>
                  <a:srgbClr val="7B8794"/>
                </a:solidFill>
                <a:latin typeface="Hiragino Sans"/>
                <a:ea typeface="Hiragino Sans"/>
                <a:cs typeface="Hiragino Sans"/>
              </a:rPr>
              <a:t>Fay / Alf 引き継ぎ運用ガイド  |  05</a:t>
            </a:r>
          </a:p>
        </p:txBody>
      </p:sp>
    </p:spTree>
    <p:extLst>
      <p:ext uri="{BB962C8B-B14F-4D97-AF65-F5344CB8AC3E}">
        <p14:creationId xmlns:p14="http://schemas.microsoft.com/office/powerpoint/2010/main" val="159929963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7FCFF8-DDB1-40D0-8A4A-7B0BCD9A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FBA29D-0325-4827-9A31-9ADED40A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DEB369-108C-4C8F-8ECB-8EC17EE3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7285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0B7285"/>
                </a:solidFill>
                <a:latin typeface="Hiragino Sans"/>
                <a:ea typeface="Hiragino Sans"/>
                <a:cs typeface="Hiragino Sans"/>
              </a:rPr>
              <a:t>5. ファイルの役割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74CE6E-1378-4F55-B72F-9FCCEF09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742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A43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02A43"/>
                </a:solidFill>
                <a:latin typeface="Hiragino Sans"/>
                <a:ea typeface="Hiragino Sans"/>
                <a:cs typeface="Hiragino Sans"/>
              </a:rPr>
              <a:t>どこに何を保存するか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8A52A0-91C8-463D-9769-740E177A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781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52606D"/>
                </a:solidFill>
                <a:latin typeface="Hiragino Sans"/>
                <a:ea typeface="Hiragino Sans"/>
                <a:cs typeface="Hiragino Sans"/>
              </a:rPr>
              <a:t>会話に残さず、用途別のMarkdownに保存して次チャットが読める状態にする。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6CFD15-BFBC-47FE-9C98-8129E3AF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52625"/>
            <a:ext cx="933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6BE68B-F484-44B4-9633-83BB91C6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0502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ファイル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AE6D17-900A-4088-B2DA-BFCBD281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05025"/>
            <a:ext cx="609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役割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D45316-1DCB-4CC3-AAE2-A7EBAF96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47925"/>
            <a:ext cx="933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25FB21-F44C-48DA-A62C-BFF18382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90800"/>
            <a:ext cx="2590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START_HERE.md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F150F0-7469-415A-A6FF-11606707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581275"/>
            <a:ext cx="6210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rPr>
              <a:t>最初に読む入口。再開手順と最小プロンプト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DA93F5-7F7F-476C-B136-97DA4631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43225"/>
            <a:ext cx="933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7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7B01F4-DF03-4D09-8167-FC57FC59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6100"/>
            <a:ext cx="2590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handoff.md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56B6B6-75E3-43EB-9123-C875FCC5B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076575"/>
            <a:ext cx="6210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rPr>
              <a:t>現在地、次アクション、最新の保存チェックポイント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1A75AB-D91B-47EA-B088-ADDE3EB5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38525"/>
            <a:ext cx="933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49B5C6-2771-4EC7-8150-C7C147FA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81400"/>
            <a:ext cx="2590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意思決定ログ.md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BA858E-72AC-4D0E-BDFF-8E1B3E40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571875"/>
            <a:ext cx="6210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rPr>
              <a:t>決まったこと、保留、判断理由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0F676C-1587-4890-A35B-696769C1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33825"/>
            <a:ext cx="933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7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D1E74E-C4FD-425F-95B3-F556F209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76700"/>
            <a:ext cx="2590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delegated-tasks.md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5FE859-635D-48E9-B74B-7872AC41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067175"/>
            <a:ext cx="6210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rPr>
              <a:t>Fay/Alf/別チャットに分けた仕事の台帳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A8BCDD-B5EA-4A59-ACB9-41F32031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29125"/>
            <a:ext cx="933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99AC17-3538-49A6-BEBB-3445F4E9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72000"/>
            <a:ext cx="2590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projects.md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B755A0-C01E-4ADB-991E-4CC7DB0F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62475"/>
            <a:ext cx="6210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rPr>
              <a:t>事業・ツール系プロジェクトの一覧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2F3DFF-BDC8-4593-AD70-5D05D8FA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24425"/>
            <a:ext cx="933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7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3D93B5-FCFF-4FB5-B43D-173DB06F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67300"/>
            <a:ext cx="2590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handoff-risk-register.md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A5CEC3-C9D9-4996-BE01-699995A2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057775"/>
            <a:ext cx="6210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rPr>
              <a:t>想定リスクと対策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217CE4-1E82-4F3D-8126-B85B81CE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19725"/>
            <a:ext cx="933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1B3277-0DA5-4378-B075-222CEFCA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62600"/>
            <a:ext cx="2590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alf/fay-restart-prompt.md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3D0372-8842-4E84-B7F9-D9DC2BC7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553075"/>
            <a:ext cx="6210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rPr>
              <a:t>片方が詰まった時の相互復旧用プロンプト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59EA83-3C17-4EB3-8DB6-6D408600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B8794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0">
                <a:solidFill>
                  <a:srgbClr val="7B8794"/>
                </a:solidFill>
                <a:latin typeface="Hiragino Sans"/>
                <a:ea typeface="Hiragino Sans"/>
                <a:cs typeface="Hiragino Sans"/>
              </a:rPr>
              <a:t>Fay / Alf 引き継ぎ運用ガイド  |  06</a:t>
            </a:r>
          </a:p>
        </p:txBody>
      </p:sp>
    </p:spTree>
    <p:extLst>
      <p:ext uri="{BB962C8B-B14F-4D97-AF65-F5344CB8AC3E}">
        <p14:creationId xmlns:p14="http://schemas.microsoft.com/office/powerpoint/2010/main" val="95695568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3B8CF7-FDC2-4DBA-AD07-0DD44DEA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F74DD0-497D-44FF-A0D5-EE085769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078E5D-EBF3-45CC-ACD0-F7DEDB6D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7285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0B7285"/>
                </a:solidFill>
                <a:latin typeface="Hiragino Sans"/>
                <a:ea typeface="Hiragino Sans"/>
                <a:cs typeface="Hiragino Sans"/>
              </a:rPr>
              <a:t>6. 片方が詰まった時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9DD393-1AE4-46E5-BC24-94E88D19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742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A43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02A43"/>
                </a:solidFill>
                <a:latin typeface="Hiragino Sans"/>
                <a:ea typeface="Hiragino Sans"/>
                <a:cs typeface="Hiragino Sans"/>
              </a:rPr>
              <a:t>FayとAlfは相互に復旧支援する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F32BCD-C176-4E1A-97E5-B8675DA5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781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52606D"/>
                </a:solidFill>
                <a:latin typeface="Hiragino Sans"/>
                <a:ea typeface="Hiragino Sans"/>
                <a:cs typeface="Hiragino Sans"/>
              </a:rPr>
              <a:t>ただし古いチャット本文を直接読むことはできないため、GitHub正本が鍵。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ADB217-E5CC-4058-A70C-D49C5BA5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4762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CB3B72-F8DE-4B92-931A-FE1EBB7C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762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F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8AB169-6E21-416A-9A20-F7A2C622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59F00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59F00"/>
                </a:solidFill>
                <a:latin typeface="Hiragino Sans"/>
                <a:ea typeface="Hiragino Sans"/>
                <a:cs typeface="Hiragino Sans"/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6B54C1-2F00-4063-B2F7-A78FD462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90750"/>
            <a:ext cx="382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02A43"/>
                </a:solidFill>
                <a:latin typeface="Hiragino Sans"/>
                <a:ea typeface="Hiragino Sans"/>
                <a:cs typeface="Hiragino Sans"/>
              </a:rPr>
              <a:t>Alfがいっぱいになったら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44F82F-4712-4D43-AFBC-D6D54636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4267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rPr>
              <a:t>三神さん → Fay:</a:t>
            </a:r>
          </a:p>
          <a:p xmlns:a="http://schemas.openxmlformats.org/drawingml/2006/main">
            <a:pPr algn="l">
              <a:def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rPr>
              <a:t>「Alfのチャットがいっぱいになった。移行用プロンプトを作って。」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rPr>
              <a:t>Fayは alf-restart-prompt.md を使ってAlf新チャット用の文を作る。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1A8B93-6AD2-4B5B-8412-547258F0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000250"/>
            <a:ext cx="4762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EF3DE3-ECEE-43CE-9261-C16433F0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000250"/>
            <a:ext cx="762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BDCCAC-106A-4D66-8A0A-C95CDAD6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7285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0B7285"/>
                </a:solidFill>
                <a:latin typeface="Hiragino Sans"/>
                <a:ea typeface="Hiragino Sans"/>
                <a:cs typeface="Hiragino Sans"/>
              </a:rPr>
              <a:t>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102974-C77C-4827-9230-3256B503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90750"/>
            <a:ext cx="382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02A43"/>
                </a:solidFill>
                <a:latin typeface="Hiragino Sans"/>
                <a:ea typeface="Hiragino Sans"/>
                <a:cs typeface="Hiragino Sans"/>
              </a:rPr>
              <a:t>Fayがいっぱいになったら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022D52-DEEC-4714-AE3C-8B89BEA6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90800"/>
            <a:ext cx="4267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rPr>
              <a:t>三神さん → Alf:</a:t>
            </a:r>
          </a:p>
          <a:p xmlns:a="http://schemas.openxmlformats.org/drawingml/2006/main">
            <a:pPr algn="l">
              <a:def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rPr>
              <a:t>「Fayのチャットがいっぱいになった。fay-restart-prompt.mdを使って引き継ぎを作って。」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rPr>
              <a:t>AlfはGitHub正本を更新し、Fay新チャット用の文を作る。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B685C8-9C81-42B8-962B-2269EB32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95875"/>
            <a:ext cx="914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5D75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E85D75"/>
                </a:solidFill>
                <a:latin typeface="Hiragino Sans"/>
                <a:ea typeface="Hiragino Sans"/>
                <a:cs typeface="Hiragino Sans"/>
              </a:rPr>
              <a:t>重要: 保存されていない会話は復元できない。だから普段から早めにhandoffへ残す。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764294-8AB7-49C7-9CE8-AC463869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B8794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0">
                <a:solidFill>
                  <a:srgbClr val="7B8794"/>
                </a:solidFill>
                <a:latin typeface="Hiragino Sans"/>
                <a:ea typeface="Hiragino Sans"/>
                <a:cs typeface="Hiragino Sans"/>
              </a:rPr>
              <a:t>Fay / Alf 引き継ぎ運用ガイド  |  07</a:t>
            </a:r>
          </a:p>
        </p:txBody>
      </p:sp>
    </p:spTree>
    <p:extLst>
      <p:ext uri="{BB962C8B-B14F-4D97-AF65-F5344CB8AC3E}">
        <p14:creationId xmlns:p14="http://schemas.microsoft.com/office/powerpoint/2010/main" val="19418671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C4131F-6040-4441-A873-0EDECD05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DE38E5-F50F-4C25-98B3-F7377A2C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F7E700-DABF-4F46-9F23-568C61C7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7285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0B7285"/>
                </a:solidFill>
                <a:latin typeface="Hiragino Sans"/>
                <a:ea typeface="Hiragino Sans"/>
                <a:cs typeface="Hiragino Sans"/>
              </a:rPr>
              <a:t>7. 同期ルール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A93BE7-98B7-42ED-B2F3-FC15DA40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742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A43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02A43"/>
                </a:solidFill>
                <a:latin typeface="Hiragino Sans"/>
                <a:ea typeface="Hiragino Sans"/>
                <a:cs typeface="Hiragino Sans"/>
              </a:rPr>
              <a:t>GitHub同期は“毎回”ではなく“端末をまたぐ時”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9E01A6-5962-45C8-95BA-5D31B093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781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52606D"/>
                </a:solidFill>
                <a:latin typeface="Hiragino Sans"/>
                <a:ea typeface="Hiragino Sans"/>
                <a:cs typeface="Hiragino Sans"/>
              </a:rPr>
              <a:t>負荷を下げつつ、Fay・Alf・スマホ間でズレを減らす。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371835-B19C-4282-8930-8E20A60A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47875"/>
            <a:ext cx="31432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4F4F11-C88C-4109-B24B-BFABF291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47875"/>
            <a:ext cx="762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0A04BE-5B39-48BF-8783-9043B878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238375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7285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0B7285"/>
                </a:solidFill>
                <a:latin typeface="Hiragino Sans"/>
                <a:ea typeface="Hiragino Sans"/>
                <a:cs typeface="Hiragino Sans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BD5805-6658-4085-B145-1B83314F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238375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02A43"/>
                </a:solidFill>
                <a:latin typeface="Hiragino Sans"/>
                <a:ea typeface="Hiragino Sans"/>
                <a:cs typeface="Hiragino Sans"/>
              </a:rPr>
              <a:t>同期する時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D087E9-330C-4EB1-B5F4-C878B0384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638425"/>
            <a:ext cx="26479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rPr>
              <a:t>・Alfがpushした後にFayで確認</a:t>
            </a:r>
          </a:p>
          <a:p xmlns:a="http://schemas.openxmlformats.org/drawingml/2006/main">
            <a:pPr algn="l">
              <a:def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rPr>
              <a:t>・FayがAlfへ渡す前</a:t>
            </a:r>
          </a:p>
          <a:p xmlns:a="http://schemas.openxmlformats.org/drawingml/2006/main">
            <a:pPr algn="l">
              <a:def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rPr>
              <a:t>・スマホ/ノート/デスクトップをまたぐ時</a:t>
            </a:r>
          </a:p>
          <a:p xmlns:a="http://schemas.openxmlformats.org/drawingml/2006/main">
            <a:pPr algn="l">
              <a:def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rPr>
              <a:t>・重要ファイル更新後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DDDA32-2182-49DA-8192-8C1740FE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047875"/>
            <a:ext cx="31432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F6F8C3-FE38-4FA6-B0D0-376A8D8D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047875"/>
            <a:ext cx="762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CF3B1A-ABE2-4921-B015-F8C3A445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238375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2606D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52606D"/>
                </a:solidFill>
                <a:latin typeface="Hiragino Sans"/>
                <a:ea typeface="Hiragino Sans"/>
                <a:cs typeface="Hiragino Sans"/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D0F1C1-62B3-4E59-845E-D00B8B44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238375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02A43"/>
                </a:solidFill>
                <a:latin typeface="Hiragino Sans"/>
                <a:ea typeface="Hiragino Sans"/>
                <a:cs typeface="Hiragino Sans"/>
              </a:rPr>
              <a:t>同期しなくてよい時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44A8A6-8DA3-4A05-8694-2157974A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638425"/>
            <a:ext cx="26479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rPr>
              <a:t>・同じ端末で続けるだけ</a:t>
            </a:r>
          </a:p>
          <a:p xmlns:a="http://schemas.openxmlformats.org/drawingml/2006/main">
            <a:pPr algn="l">
              <a:def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rPr>
              <a:t>・同じチャット内の軽い相談</a:t>
            </a:r>
          </a:p>
          <a:p xmlns:a="http://schemas.openxmlformats.org/drawingml/2006/main">
            <a:pPr algn="l">
              <a:def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rPr>
              <a:t>・ローカルのSTART_HERE/handoffで十分な時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D21EE0-26E2-4C35-AF9F-745CD8FB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47875"/>
            <a:ext cx="31432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FB494B-B677-455D-9E97-55514A41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47875"/>
            <a:ext cx="762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BF2A8A-5303-49B3-AFFF-27909109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238375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02A43"/>
                </a:solidFill>
                <a:latin typeface="Hiragino Sans"/>
                <a:ea typeface="Hiragino Sans"/>
                <a:cs typeface="Hiragino Sans"/>
              </a:rPr>
              <a:t>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62D210-E530-4EAB-A3B5-B4B15A11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238375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02A43"/>
                </a:solidFill>
                <a:latin typeface="Hiragino Sans"/>
                <a:ea typeface="Hiragino Sans"/>
                <a:cs typeface="Hiragino Sans"/>
              </a:rPr>
              <a:t>正本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F721F3-8B9E-4AF6-B363-0D22A0A1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638425"/>
            <a:ext cx="26479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rPr>
              <a:t>GitHub repo:</a:t>
            </a:r>
          </a:p>
          <a:p xmlns:a="http://schemas.openxmlformats.org/drawingml/2006/main">
            <a:pPr algn="l">
              <a:def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rPr>
              <a:t>`mikami-operations`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rPr>
              <a:t>分岐したら原則GitHub側を優先する。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55DDDA-43FD-4C9E-A241-B1ECA5D8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B8794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0">
                <a:solidFill>
                  <a:srgbClr val="7B8794"/>
                </a:solidFill>
                <a:latin typeface="Hiragino Sans"/>
                <a:ea typeface="Hiragino Sans"/>
                <a:cs typeface="Hiragino Sans"/>
              </a:rPr>
              <a:t>Fay / Alf 引き継ぎ運用ガイド  |  08</a:t>
            </a:r>
          </a:p>
        </p:txBody>
      </p:sp>
    </p:spTree>
    <p:extLst>
      <p:ext uri="{BB962C8B-B14F-4D97-AF65-F5344CB8AC3E}">
        <p14:creationId xmlns:p14="http://schemas.microsoft.com/office/powerpoint/2010/main" val="48464623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63BBD2-A937-4A9D-ACC7-2AB377F6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E0822D-671A-4966-BE14-E608B64D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05EB3E-447D-4139-B888-67DDA052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7285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0B7285"/>
                </a:solidFill>
                <a:latin typeface="Hiragino Sans"/>
                <a:ea typeface="Hiragino Sans"/>
                <a:cs typeface="Hiragino Sans"/>
              </a:rPr>
              <a:t>8. 安全ルール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084E6C-9ACF-48AF-85DA-0559E041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742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A43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02A43"/>
                </a:solidFill>
                <a:latin typeface="Hiragino Sans"/>
                <a:ea typeface="Hiragino Sans"/>
                <a:cs typeface="Hiragino Sans"/>
              </a:rPr>
              <a:t>Fayが自動で進めること / 必ず確認すること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11DD91-FD6F-40B2-82B4-A7E3D6D1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781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52606D"/>
                </a:solidFill>
                <a:latin typeface="Hiragino Sans"/>
                <a:ea typeface="Hiragino Sans"/>
                <a:cs typeface="Hiragino Sans"/>
              </a:rPr>
              <a:t>スピードを上げる部分と、安全のため止める部分を分ける。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65AC7C-B18A-443E-95A4-EEFDE280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4476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CF5"/>
          </a:solidFill>
          <a:ln xmlns:a="http://schemas.openxmlformats.org/drawingml/2006/main" w="9525">
            <a:solidFill>
              <a:srgbClr val="96F2D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A310E5-7717-43CF-ACEE-A8795FEA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381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7285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0B7285"/>
                </a:solidFill>
                <a:latin typeface="Hiragino Sans"/>
                <a:ea typeface="Hiragino Sans"/>
                <a:cs typeface="Hiragino Sans"/>
              </a:rPr>
              <a:t>確認なしで進めてよい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D6820E-FCBF-4ED5-B594-EDD80ABB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52750"/>
            <a:ext cx="3619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rPr>
              <a:t>・引き継ぎファイル更新</a:t>
            </a:r>
          </a:p>
          <a:p xmlns:a="http://schemas.openxmlformats.org/drawingml/2006/main">
            <a:pPr algn="l">
              <a:defRPr sz="12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rPr>
              <a:t>・台帳 / ログ / プロジェクトメモ更新</a:t>
            </a:r>
          </a:p>
          <a:p xmlns:a="http://schemas.openxmlformats.org/drawingml/2006/main">
            <a:pPr algn="l">
              <a:defRPr sz="12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rPr>
              <a:t>・git status / commit / push</a:t>
            </a:r>
          </a:p>
          <a:p xmlns:a="http://schemas.openxmlformats.org/drawingml/2006/main">
            <a:pPr algn="l">
              <a:defRPr sz="12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rPr>
              <a:t>・Alf依頼文作成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6C87EC-57E0-4B6D-B077-51AAB515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095500"/>
            <a:ext cx="4476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F5"/>
          </a:solidFill>
          <a:ln xmlns:a="http://schemas.openxmlformats.org/drawingml/2006/main" w="9525">
            <a:solidFill>
              <a:srgbClr val="FFC9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0FCA00-E5D7-4CCE-985B-A3EF4363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81250"/>
            <a:ext cx="381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85D75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E85D75"/>
                </a:solidFill>
                <a:latin typeface="Hiragino Sans"/>
                <a:ea typeface="Hiragino Sans"/>
                <a:cs typeface="Hiragino Sans"/>
              </a:rPr>
              <a:t>必ず確認する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0995FC-F9C8-4533-A378-823813F87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952750"/>
            <a:ext cx="3619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rPr>
              <a:t>・ファイル削除</a:t>
            </a:r>
          </a:p>
          <a:p xmlns:a="http://schemas.openxmlformats.org/drawingml/2006/main">
            <a:pPr algn="l">
              <a:defRPr sz="12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rPr>
              <a:t>・reset / clean / 強制push</a:t>
            </a:r>
          </a:p>
          <a:p xmlns:a="http://schemas.openxmlformats.org/drawingml/2006/main">
            <a:pPr algn="l">
              <a:defRPr sz="12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rPr>
              <a:t>・個人情報や機密情報の保存</a:t>
            </a:r>
          </a:p>
          <a:p xmlns:a="http://schemas.openxmlformats.org/drawingml/2006/main">
            <a:pPr algn="l">
              <a:defRPr sz="12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rPr>
              <a:t>・Google Drive内の削除 / 移動</a:t>
            </a:r>
          </a:p>
          <a:p xmlns:a="http://schemas.openxmlformats.org/drawingml/2006/main">
            <a:pPr algn="l">
              <a:defRPr sz="12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rPr>
              <a:t>・元データを失う上書き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B216FE-B7E7-468C-86ED-89A19913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B8794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0">
                <a:solidFill>
                  <a:srgbClr val="7B8794"/>
                </a:solidFill>
                <a:latin typeface="Hiragino Sans"/>
                <a:ea typeface="Hiragino Sans"/>
                <a:cs typeface="Hiragino Sans"/>
              </a:rPr>
              <a:t>Fay / Alf 引き継ぎ運用ガイド  |  09</a:t>
            </a:r>
          </a:p>
        </p:txBody>
      </p:sp>
    </p:spTree>
    <p:extLst>
      <p:ext uri="{BB962C8B-B14F-4D97-AF65-F5344CB8AC3E}">
        <p14:creationId xmlns:p14="http://schemas.microsoft.com/office/powerpoint/2010/main" val="141396416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9A7B6B-71C6-4859-9FA7-1B631584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CB98F8-CC3D-4115-8796-849750FE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9417CD-F16B-481A-AE28-71B30E16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7285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0B7285"/>
                </a:solidFill>
                <a:latin typeface="Hiragino Sans"/>
                <a:ea typeface="Hiragino Sans"/>
                <a:cs typeface="Hiragino Sans"/>
              </a:rPr>
              <a:t>9. まとめ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8F8AE9-2E59-400C-9ECD-FF3411D4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742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A43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02A43"/>
                </a:solidFill>
                <a:latin typeface="Hiragino Sans"/>
                <a:ea typeface="Hiragino Sans"/>
                <a:cs typeface="Hiragino Sans"/>
              </a:rPr>
              <a:t>運用の合言葉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A8FDC2-C560-48AD-B630-13D4D47A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781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52606D"/>
                </a:solidFill>
                <a:latin typeface="Hiragino Sans"/>
                <a:ea typeface="Hiragino Sans"/>
                <a:cs typeface="Hiragino Sans"/>
              </a:rPr>
              <a:t>覚えることは少なく、保存と復旧はFay/Alf側で進める。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2C2D8C-4FDF-4196-A8D6-69EB0014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952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D035A8-0057-4488-811B-12A860D5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895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Fay、START_HERE.mdから再開して。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264539-5A54-4A16-80EB-2FAD573F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95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3CECF7-BB5E-4D77-B13F-B7519A05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42900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rPr>
              <a:t>三神さんはFayへ依頼。Fayが必要に応じてAlfへ分ける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9918C9-E8C8-40C5-B2B3-B7807421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14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9536B2-870F-4FE2-B9E8-47F1D520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84810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rPr>
              <a:t>GitHubは作業ログと引き継ぎ台帳、Google Driveは資料保管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D06120-F58F-4BD8-A7DA-A13B6832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33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DBD213-1609-4463-9C6D-03114C8A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26720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rPr>
              <a:t>片方がいっぱいになったら、もう片方が再開プロンプトを作る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2453BB-3875-47D5-B386-42E3EA77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52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947ACE-8781-4F8A-899B-826E6EA07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8630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243B53"/>
                </a:solidFill>
                <a:latin typeface="Hiragino Sans"/>
                <a:ea typeface="Hiragino Sans"/>
                <a:cs typeface="Hiragino Sans"/>
              </a:rPr>
              <a:t>正確に引き継ぐ鍵は、早めにhandoff/意思決定ログへ保存すること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1B2AAC-7BF1-4F0C-89F0-44E73DA6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476875"/>
            <a:ext cx="619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7285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0B7285"/>
                </a:solidFill>
                <a:latin typeface="Hiragino Sans"/>
                <a:ea typeface="Hiragino Sans"/>
                <a:cs typeface="Hiragino Sans"/>
              </a:rPr>
              <a:t>次に迷ったら: handoff-runbook.md を見る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3E0DB1-0BCD-4F7C-8177-9FC29145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B8794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0">
                <a:solidFill>
                  <a:srgbClr val="7B8794"/>
                </a:solidFill>
                <a:latin typeface="Hiragino Sans"/>
                <a:ea typeface="Hiragino Sans"/>
                <a:cs typeface="Hiragino Sans"/>
              </a:rPr>
              <a:t>Fay / Alf 引き継ぎ運用ガイド  |  10</a:t>
            </a:r>
          </a:p>
        </p:txBody>
      </p:sp>
    </p:spTree>
    <p:extLst>
      <p:ext uri="{BB962C8B-B14F-4D97-AF65-F5344CB8AC3E}">
        <p14:creationId xmlns:p14="http://schemas.microsoft.com/office/powerpoint/2010/main" val="299572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2026-05-23T15:16:16.1850000Z</dcterms:created>
  <dcterms:modified xsi:type="dcterms:W3CDTF">2026-05-23T15:16:16.1850000Z</dcterms:modified>
</coreProperties>
</file>